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3" r:id="rId9"/>
    <p:sldId id="264" r:id="rId10"/>
    <p:sldId id="273" r:id="rId11"/>
    <p:sldId id="267" r:id="rId12"/>
    <p:sldId id="268" r:id="rId13"/>
    <p:sldId id="270" r:id="rId14"/>
    <p:sldId id="271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Varsha Rainfall Chatbot</a:t>
            </a:r>
            <a:endParaRPr sz="3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4E8F5"/>
                </a:solidFill>
                <a:latin typeface="Calibri"/>
              </a:rPr>
              <a:t>Detailed Change Summary — Frontend &amp; Backend</a:t>
            </a:r>
            <a:endParaRPr sz="2200" b="0">
              <a:solidFill>
                <a:srgbClr val="D4E8F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Session date: 11 August 2026  ·  Product: iRAINS / IMD</a:t>
            </a:r>
            <a:endParaRPr sz="1400" b="0">
              <a:solidFill>
                <a:srgbClr val="FFFFFF"/>
              </a:solidFill>
              <a:latin typeface="Calibri"/>
            </a:endParaRPr>
          </a:p>
          <a:p>
            <a:r>
              <a:rPr sz="1300" b="0">
                <a:solidFill>
                  <a:srgbClr val="D4E8F5"/>
                </a:solidFill>
                <a:latin typeface="Calibri"/>
              </a:rPr>
              <a:t>Repos: iru-irains-backend + IRAINS-frontend  ·  Feature: Clarification flows, category answers, UI polish</a:t>
            </a:r>
            <a:endParaRPr sz="1300" b="0">
              <a:solidFill>
                <a:srgbClr val="D4E8F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Agenda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1. Overview — what we built yesterday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2. Clarification flow (Did you mean → Period → Data)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3. Backend changes (clarification.js, chatService, apiExecutor)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4. Frontend changes (Varsha UI, chips, answer formatting)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5. Bug fixes from live testing (with before/after)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6. Category miss messaging (Excess vs actual category)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7. Date / period handling (June month, Historical, Season so far)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8. Files touched &amp; test plan</a:t>
            </a:r>
            <a:endParaRPr sz="18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C1F3A"/>
                </a:solidFill>
                <a:latin typeface="Calibri"/>
              </a:rPr>
              <a:t>9. Summary &amp; next recommendations</a:t>
            </a:r>
            <a:endParaRPr sz="18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2/17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</a:rPr>
              <a:t>1</a:t>
            </a:r>
            <a:r>
              <a:rPr sz="2200" b="1">
                <a:solidFill>
                  <a:srgbClr val="FFFFFF"/>
                </a:solidFill>
                <a:latin typeface="Calibri"/>
              </a:rPr>
              <a:t>. Target User Flow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C1F3A"/>
                </a:solidFill>
                <a:latin typeface="Calibri"/>
              </a:rPr>
              <a:t>Example: “can you give me chenai data of excess” / “no rain” / “large excess”</a:t>
            </a:r>
            <a:endParaRPr sz="1500" b="1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2194560"/>
            <a:ext cx="2103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5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331720"/>
            <a:ext cx="502920" cy="502920"/>
          </a:xfrm>
          <a:prstGeom prst="ellipse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467"/>
                </a:solidFill>
                <a:latin typeface="Calibri"/>
              </a:rPr>
              <a:t>User question</a:t>
            </a:r>
            <a:endParaRPr sz="1300" b="1">
              <a:solidFill>
                <a:srgbClr val="002467"/>
              </a:solidFill>
              <a:latin typeface="Calibri"/>
            </a:endParaRPr>
          </a:p>
          <a:p>
            <a:pPr algn="ctr"/>
            <a:r>
              <a:rPr sz="1100" b="0">
                <a:solidFill>
                  <a:srgbClr val="5A6F86"/>
                </a:solidFill>
                <a:latin typeface="Calibri"/>
              </a:rPr>
              <a:t>Typo + category
+ unclear period</a:t>
            </a:r>
            <a:endParaRPr sz="1100" b="0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0" y="2194560"/>
            <a:ext cx="2103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5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2331720"/>
            <a:ext cx="502920" cy="502920"/>
          </a:xfrm>
          <a:prstGeom prst="ellipse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4640" y="2971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467"/>
                </a:solidFill>
                <a:latin typeface="Calibri"/>
              </a:rPr>
              <a:t>Did you mean?</a:t>
            </a:r>
            <a:endParaRPr sz="1300" b="1">
              <a:solidFill>
                <a:srgbClr val="002467"/>
              </a:solidFill>
              <a:latin typeface="Calibri"/>
            </a:endParaRPr>
          </a:p>
          <a:p>
            <a:pPr algn="ctr"/>
            <a:r>
              <a:rPr sz="1100" b="0">
                <a:solidFill>
                  <a:srgbClr val="5A6F86"/>
                </a:solidFill>
                <a:latin typeface="Calibri"/>
              </a:rPr>
              <a:t>Yes / No chips
for Chennai</a:t>
            </a:r>
            <a:endParaRPr sz="1100" b="0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74920" y="2194560"/>
            <a:ext cx="2103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5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59" y="2331720"/>
            <a:ext cx="502920" cy="502920"/>
          </a:xfrm>
          <a:prstGeom prst="ellipse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359" y="2971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467"/>
                </a:solidFill>
                <a:latin typeface="Calibri"/>
              </a:rPr>
              <a:t>Pick period</a:t>
            </a:r>
            <a:endParaRPr sz="1300" b="1">
              <a:solidFill>
                <a:srgbClr val="002467"/>
              </a:solidFill>
              <a:latin typeface="Calibri"/>
            </a:endParaRPr>
          </a:p>
          <a:p>
            <a:pPr algn="ctr"/>
            <a:r>
              <a:rPr sz="1100" b="0">
                <a:solidFill>
                  <a:srgbClr val="5A6F86"/>
                </a:solidFill>
                <a:latin typeface="Calibri"/>
              </a:rPr>
              <a:t>Today / Yesterday
This month / …</a:t>
            </a:r>
            <a:endParaRPr sz="1100" b="0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06640" y="2194560"/>
            <a:ext cx="2103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5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79" y="2331720"/>
            <a:ext cx="502920" cy="502920"/>
          </a:xfrm>
          <a:prstGeom prst="ellipse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79" y="2971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467"/>
                </a:solidFill>
                <a:latin typeface="Calibri"/>
              </a:rPr>
              <a:t>Optional month</a:t>
            </a:r>
            <a:endParaRPr sz="1300" b="1">
              <a:solidFill>
                <a:srgbClr val="002467"/>
              </a:solidFill>
              <a:latin typeface="Calibri"/>
            </a:endParaRPr>
          </a:p>
          <a:p>
            <a:pPr algn="ctr"/>
            <a:r>
              <a:rPr sz="1100" b="0">
                <a:solidFill>
                  <a:srgbClr val="5A6F86"/>
                </a:solidFill>
                <a:latin typeface="Calibri"/>
              </a:rPr>
              <a:t>Specific month
or type March 2023</a:t>
            </a:r>
            <a:endParaRPr sz="1100" b="0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738359" y="2194560"/>
            <a:ext cx="2103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5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599" y="2331720"/>
            <a:ext cx="502920" cy="502920"/>
          </a:xfrm>
          <a:prstGeom prst="ellipse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29799" y="2971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467"/>
                </a:solidFill>
                <a:latin typeface="Calibri"/>
              </a:rPr>
              <a:t>Data answer</a:t>
            </a:r>
            <a:endParaRPr sz="1300" b="1">
              <a:solidFill>
                <a:srgbClr val="002467"/>
              </a:solidFill>
              <a:latin typeface="Calibri"/>
            </a:endParaRPr>
          </a:p>
          <a:p>
            <a:pPr algn="ctr"/>
            <a:r>
              <a:rPr sz="1100" b="0">
                <a:solidFill>
                  <a:srgbClr val="5A6F86"/>
                </a:solidFill>
                <a:latin typeface="Calibri"/>
              </a:rPr>
              <a:t>Category hit
or category miss</a:t>
            </a:r>
            <a:endParaRPr sz="1100" b="0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C1F3A"/>
                </a:solidFill>
                <a:latin typeface="Calibri"/>
              </a:rPr>
              <a:t>Rule: never skip Did-you-mean when a place looks misspelled. Never invent a place from English words (e.g. “than” ≠ Thane). Period chips must not glue onto the place name (e.g. “goa monthly”).</a:t>
            </a:r>
            <a:endParaRPr sz="13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4/17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</a:rPr>
              <a:t>2</a:t>
            </a:r>
            <a:r>
              <a:rPr sz="2200" b="1">
                <a:solidFill>
                  <a:srgbClr val="FFFFFF"/>
                </a:solidFill>
                <a:latin typeface="Calibri"/>
              </a:rPr>
              <a:t>. Overview — Yesterday’s Goals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4846320"/>
          </a:xfrm>
          <a:prstGeom prst="rect">
            <a:avLst/>
          </a:prstGeom>
          <a:solidFill>
            <a:srgbClr val="1A8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467"/>
                </a:solidFill>
                <a:latin typeface="Calibri"/>
              </a:rPr>
              <a:t>Product intent</a:t>
            </a:r>
            <a:endParaRPr sz="14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Make Varsha behave like a guided rainfall assistant, not a free-form LLM.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Catch typos before calling APIs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Ask Yes/No for place corrections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Ask for period when timeframe is unclear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Answer category questions correctly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Never contradict itself (e.g. show departure then say “no data”)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Polish clarify UI (chips, hints, no raw HTML)</a:t>
            </a:r>
            <a:endParaRPr sz="12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73152" cy="4846320"/>
          </a:xfrm>
          <a:prstGeom prst="rect">
            <a:avLst/>
          </a:prstGeom>
          <a:solidFill>
            <a:srgbClr val="0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984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467"/>
                </a:solidFill>
                <a:latin typeface="Calibri"/>
              </a:rPr>
              <a:t>Outcome</a:t>
            </a:r>
            <a:endParaRPr sz="14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0292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New clarification layer on backend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Frontend clarify chips + free-text matching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Deterministic answers for category misses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Safer location fuzzy-matching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Correct month/year &amp; historical ranges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Professional clarify message layout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Backend ~+578 LOC  |  Frontend ~+837 LOC</a:t>
            </a:r>
            <a:endParaRPr sz="12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3/17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3. Backend — Files &amp; Responsibilities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49039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73152" cy="4937760"/>
          </a:xfrm>
          <a:prstGeom prst="rect">
            <a:avLst/>
          </a:prstGeom>
          <a:solidFill>
            <a:srgbClr val="1A8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5272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467"/>
                </a:solidFill>
                <a:latin typeface="Calibri"/>
              </a:rPr>
              <a:t>NEW  clarification.js</a:t>
            </a:r>
            <a:endParaRPr sz="14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38327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Pre-chat validation layer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Fuzzy place matching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Did-you-mean Yes/No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Invalid date / location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Suspicious mm values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Mixed temp+rain intent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Category period chips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Specific-month picker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Location master (DB + seed)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healPlaceFilterLevel()</a:t>
            </a:r>
            <a:endParaRPr sz="12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1143000"/>
            <a:ext cx="3749039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73152" cy="4937760"/>
          </a:xfrm>
          <a:prstGeom prst="rect">
            <a:avLst/>
          </a:prstGeom>
          <a:solidFill>
            <a:srgbClr val="0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52728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467"/>
                </a:solidFill>
                <a:latin typeface="Calibri"/>
              </a:rPr>
              <a:t>UPDATED  chatService.js</a:t>
            </a:r>
            <a:endParaRPr sz="14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38327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Wires clarification into chat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runPreChatClarifications()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Category-miss answer rules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Override LLM when empty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  category filter (no “data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  not available” contradiction)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Prompt: category_miss ≠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  missing rainfall data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Strip confirmed_rainfall_mm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  token before planning</a:t>
            </a:r>
            <a:endParaRPr sz="12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5661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143000"/>
            <a:ext cx="73152" cy="4937760"/>
          </a:xfrm>
          <a:prstGeom prst="rect">
            <a:avLst/>
          </a:prstGeom>
          <a:solidFill>
            <a:srgbClr val="2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527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467"/>
                </a:solidFill>
                <a:latin typeface="Calibri"/>
              </a:rPr>
              <a:t>UPDATED  apiExecutor.js</a:t>
            </a:r>
            <a:endParaRPr sz="14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32004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Date &amp; category healers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extractCategoriesFromQuestion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sanitizeDatesFromQuestion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applyMonthRangeFromQuestion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Historical → season start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category_miss payload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State/district fallbacks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sanitizeRainfallAction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Docs: IRAINS_API_CATALOG.md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(Q5c place + category)</a:t>
            </a:r>
            <a:endParaRPr sz="12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5/17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3a. Backend Clarification Types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467"/>
                </a:solidFill>
                <a:latin typeface="Calibri"/>
              </a:rPr>
              <a:t>did_you_mean</a:t>
            </a:r>
            <a:endParaRPr sz="12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6160" y="117043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8FB8"/>
                </a:solidFill>
                <a:latin typeface="Calibri"/>
              </a:rPr>
              <a:t>chenai → Chennai</a:t>
            </a:r>
            <a:endParaRPr sz="1200" b="0">
              <a:solidFill>
                <a:srgbClr val="1A8F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1704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C1F3A"/>
                </a:solidFill>
                <a:latin typeface="Calibri"/>
              </a:rPr>
              <a:t>Yes / No chips; Yes rewrites place then continues</a:t>
            </a:r>
            <a:endParaRPr sz="11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810512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467"/>
                </a:solidFill>
                <a:latin typeface="Calibri"/>
              </a:rPr>
              <a:t>ambiguous_timeframe</a:t>
            </a:r>
            <a:endParaRPr sz="12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66160" y="1883664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8FB8"/>
                </a:solidFill>
                <a:latin typeface="Calibri"/>
              </a:rPr>
              <a:t>place known, no period</a:t>
            </a:r>
            <a:endParaRPr sz="1200" b="0">
              <a:solidFill>
                <a:srgbClr val="1A8FB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88366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C1F3A"/>
                </a:solidFill>
                <a:latin typeface="Calibri"/>
              </a:rPr>
              <a:t>Today, Yesterday, Last 7 days, This/Last month, Specific month / Season so far</a:t>
            </a:r>
            <a:endParaRPr sz="11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1480" y="2523744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96896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467"/>
                </a:solidFill>
                <a:latin typeface="Calibri"/>
              </a:rPr>
              <a:t>which_month</a:t>
            </a:r>
            <a:endParaRPr sz="12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66160" y="2596896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8FB8"/>
                </a:solidFill>
                <a:latin typeface="Calibri"/>
              </a:rPr>
              <a:t>Specific month picked</a:t>
            </a:r>
            <a:endParaRPr sz="1200" b="0">
              <a:solidFill>
                <a:srgbClr val="1A8FB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5968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C1F3A"/>
                </a:solidFill>
                <a:latin typeface="Calibri"/>
              </a:rPr>
              <a:t>Last 12 months + Year 20XX chips; free text e.g. March 2023</a:t>
            </a:r>
            <a:endParaRPr sz="11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11480" y="3236976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1012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467"/>
                </a:solidFill>
                <a:latin typeface="Calibri"/>
              </a:rPr>
              <a:t>invalid_location</a:t>
            </a:r>
            <a:endParaRPr sz="12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6160" y="331012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8FB8"/>
                </a:solidFill>
                <a:latin typeface="Calibri"/>
              </a:rPr>
              <a:t>unknown place</a:t>
            </a:r>
            <a:endParaRPr sz="1200" b="0">
              <a:solidFill>
                <a:srgbClr val="1A8FB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C1F3A"/>
                </a:solidFill>
                <a:latin typeface="Calibri"/>
              </a:rPr>
              <a:t>Suggest nearby district names as chips</a:t>
            </a:r>
            <a:endParaRPr sz="11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1480" y="3950208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467"/>
                </a:solidFill>
                <a:latin typeface="Calibri"/>
              </a:rPr>
              <a:t>invalid_date</a:t>
            </a:r>
            <a:endParaRPr sz="12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6160" y="402336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8FB8"/>
                </a:solidFill>
                <a:latin typeface="Calibri"/>
              </a:rPr>
              <a:t>31 Feb etc.</a:t>
            </a:r>
            <a:endParaRPr sz="1200" b="0">
              <a:solidFill>
                <a:srgbClr val="1A8FB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C1F3A"/>
                </a:solidFill>
                <a:latin typeface="Calibri"/>
              </a:rPr>
              <a:t>Ask for a valid date</a:t>
            </a:r>
            <a:endParaRPr sz="11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1480" y="4663440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3659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467"/>
                </a:solidFill>
                <a:latin typeface="Calibri"/>
              </a:rPr>
              <a:t>suspicious_rainfall_value</a:t>
            </a:r>
            <a:endParaRPr sz="12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66160" y="473659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8FB8"/>
                </a:solidFill>
                <a:latin typeface="Calibri"/>
              </a:rPr>
              <a:t>4000mm</a:t>
            </a:r>
            <a:endParaRPr sz="1200" b="0">
              <a:solidFill>
                <a:srgbClr val="1A8FB8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47365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C1F3A"/>
                </a:solidFill>
                <a:latin typeface="Calibri"/>
              </a:rPr>
              <a:t>Yes 40 mm / Keep 4000 mm; no re-ask loop</a:t>
            </a:r>
            <a:endParaRPr sz="11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1480" y="5376672"/>
            <a:ext cx="11338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449824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467"/>
                </a:solidFill>
                <a:latin typeface="Calibri"/>
              </a:rPr>
              <a:t>mixed_concept</a:t>
            </a:r>
            <a:endParaRPr sz="12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66160" y="5449824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8FB8"/>
                </a:solidFill>
                <a:latin typeface="Calibri"/>
              </a:rPr>
              <a:t>temp + rain</a:t>
            </a:r>
            <a:endParaRPr sz="1200" b="0">
              <a:solidFill>
                <a:srgbClr val="1A8FB8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0" y="544982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C1F3A"/>
                </a:solidFill>
                <a:latin typeface="Calibri"/>
              </a:rPr>
              <a:t>Rainfall available; Temperature disabled</a:t>
            </a:r>
            <a:endParaRPr sz="11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6/17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  <a:r>
              <a:rPr lang="en-US" sz="2200" b="1">
                <a:solidFill>
                  <a:srgbClr val="FFFFFF"/>
                </a:solidFill>
                <a:latin typeface="Calibri"/>
              </a:rPr>
              <a:t>b</a:t>
            </a:r>
            <a:r>
              <a:rPr sz="2200" b="1">
                <a:solidFill>
                  <a:srgbClr val="FFFFFF"/>
                </a:solidFill>
                <a:latin typeface="Calibri"/>
              </a:rPr>
              <a:t>. Date &amp; Period Handling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73152" cy="4937760"/>
          </a:xfrm>
          <a:prstGeom prst="rect">
            <a:avLst/>
          </a:prstGeom>
          <a:solidFill>
            <a:srgbClr val="1A8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52728"/>
            <a:ext cx="5212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467"/>
                </a:solidFill>
                <a:latin typeface="Calibri"/>
              </a:rPr>
              <a:t>sanitizeDatesFromQuestion / applyMonthRange</a:t>
            </a:r>
            <a:endParaRPr sz="14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21207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Relative phrases always win over LLM-copied catalog dates.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today / yesterday → single day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last 7 days / this week → rolling week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this month / monthly → 1st → today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last month → full previous month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historical / season so far / seasonal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  → SW monsoon start (1 June) → today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Whole-month phrases (current year if omitted):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in June / on June / June month / month of June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June 2024 keeps explicit year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Prevents LLM inventing 2023-06-01…06-30</a:t>
            </a:r>
            <a:endParaRPr sz="12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73152" cy="4937760"/>
          </a:xfrm>
          <a:prstGeom prst="rect">
            <a:avLst/>
          </a:prstGeom>
          <a:solidFill>
            <a:srgbClr val="0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5272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467"/>
                </a:solidFill>
                <a:latin typeface="Calibri"/>
              </a:rPr>
              <a:t>Live bug: Goa June</a:t>
            </a:r>
            <a:endParaRPr sz="14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User: rainfall in goa on june month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Before: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Answered June 2023 (catalog example)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All values “Not available”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After: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• Forces 2026-06-01 → 2026-06-30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  (server year when year omitted)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Also renamed vague “Historical” chip</a:t>
            </a:r>
            <a:endParaRPr sz="12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C1F3A"/>
                </a:solidFill>
                <a:latin typeface="Calibri"/>
              </a:rPr>
              <a:t>→ “Season so far” so the range is clear.</a:t>
            </a:r>
            <a:endParaRPr sz="12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8/17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  <a:r>
              <a:rPr lang="en-US" sz="2200" b="1">
                <a:solidFill>
                  <a:srgbClr val="FFFFFF"/>
                </a:solidFill>
                <a:latin typeface="Calibri"/>
              </a:rPr>
              <a:t>c</a:t>
            </a:r>
            <a:r>
              <a:rPr sz="2200" b="1">
                <a:solidFill>
                  <a:srgbClr val="FFFFFF"/>
                </a:solidFill>
                <a:latin typeface="Calibri"/>
              </a:rPr>
              <a:t>. </a:t>
            </a:r>
            <a:r>
              <a:rPr lang="en-US" sz="2200" b="1">
                <a:solidFill>
                  <a:srgbClr val="FFFFFF"/>
                </a:solidFill>
                <a:latin typeface="Calibri"/>
              </a:rPr>
              <a:t>SCREENSHOTS</a:t>
            </a:r>
            <a:endParaRPr lang="en-US"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9/17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63345"/>
            <a:ext cx="2555240" cy="4330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760" y="1477010"/>
            <a:ext cx="2769870" cy="4406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1940560"/>
            <a:ext cx="5356860" cy="3479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  <a:r>
              <a:rPr lang="en-US" sz="2200" b="1">
                <a:solidFill>
                  <a:srgbClr val="FFFFFF"/>
                </a:solidFill>
                <a:latin typeface="Calibri"/>
              </a:rPr>
              <a:t>a</a:t>
            </a:r>
            <a:r>
              <a:rPr sz="2200" b="1">
                <a:solidFill>
                  <a:srgbClr val="FFFFFF"/>
                </a:solidFill>
                <a:latin typeface="Calibri"/>
              </a:rPr>
              <a:t>. </a:t>
            </a:r>
            <a:r>
              <a:rPr lang="en-US" sz="2200" b="1">
                <a:solidFill>
                  <a:srgbClr val="FFFFFF"/>
                </a:solidFill>
                <a:latin typeface="Calibri"/>
              </a:rPr>
              <a:t>SCREENSHOTS </a:t>
            </a:r>
            <a:endParaRPr lang="en-US" sz="2200" b="1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80" y="1265555"/>
            <a:ext cx="2558415" cy="43268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290" y="1361440"/>
            <a:ext cx="6871335" cy="4462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4b. Frontend Question Rewrites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2467"/>
                </a:solidFill>
                <a:latin typeface="Calibri"/>
              </a:rPr>
              <a:t>did_you_mean + Yes</a:t>
            </a:r>
            <a:endParaRPr sz="1500" b="1">
              <a:solidFill>
                <a:srgbClr val="00246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C1F3A"/>
                </a:solidFill>
                <a:latin typeface="Calibri"/>
              </a:rPr>
              <a:t>Replace typo token: “chenai …” → “Chennai …” then re-ask backend (period chips next).</a:t>
            </a:r>
            <a:endParaRPr sz="14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2467"/>
                </a:solidFill>
                <a:latin typeface="Calibri"/>
              </a:rPr>
              <a:t>ambiguous_timeframe / which_month</a:t>
            </a:r>
            <a:endParaRPr sz="1500" b="1">
              <a:solidFill>
                <a:srgbClr val="00246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C1F3A"/>
                </a:solidFill>
                <a:latin typeface="Calibri"/>
              </a:rPr>
              <a:t>Aliases: monthly→this month, historical→season so far.</a:t>
            </a:r>
            <a:endParaRPr sz="14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C1F3A"/>
                </a:solidFill>
                <a:latin typeface="Calibri"/>
              </a:rPr>
              <a:t>Insert period into rainfall phrase: “this month rainfall in goa” (avoids “goa monthly”).</a:t>
            </a:r>
            <a:endParaRPr sz="14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C1F3A"/>
                </a:solidFill>
                <a:latin typeface="Calibri"/>
              </a:rPr>
              <a:t>Specific month → “month of March 2024”; Year chip → “specific_month 2023”.</a:t>
            </a:r>
            <a:endParaRPr sz="14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2467"/>
                </a:solidFill>
                <a:latin typeface="Calibri"/>
              </a:rPr>
              <a:t>suspicious_rainfall_value</a:t>
            </a:r>
            <a:endParaRPr sz="1500" b="1">
              <a:solidFill>
                <a:srgbClr val="00246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C1F3A"/>
                </a:solidFill>
                <a:latin typeface="Calibri"/>
              </a:rPr>
              <a:t>Rewrite 4000mm / 4000 mm → 40 mm. Keep 4000 adds confirmed_rainfall_mm so backend won’t loop.</a:t>
            </a:r>
            <a:endParaRPr sz="14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2467"/>
                </a:solidFill>
                <a:latin typeface="Calibri"/>
              </a:rPr>
              <a:t>Free-text while chips open</a:t>
            </a:r>
            <a:endParaRPr sz="1500" b="1">
              <a:solidFill>
                <a:srgbClr val="002467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C1F3A"/>
                </a:solidFill>
                <a:latin typeface="Calibri"/>
              </a:rPr>
              <a:t>Matches Yes/No, period labels, “Yes, 40 mm”, typed months — otherwise nudges user to tap a chip.</a:t>
            </a:r>
            <a:endParaRPr sz="14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12/17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5. Live Bugs Fixed Yesterday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6F86"/>
                </a:solidFill>
                <a:latin typeface="Calibri"/>
              </a:rPr>
              <a:t>Issue</a:t>
            </a:r>
            <a:endParaRPr sz="1200" b="1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51960" y="1051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6F86"/>
                </a:solidFill>
                <a:latin typeface="Calibri"/>
              </a:rPr>
              <a:t>Root cause</a:t>
            </a:r>
            <a:endParaRPr sz="1200" b="1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2440" y="1051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6F86"/>
                </a:solidFill>
                <a:latin typeface="Calibri"/>
              </a:rPr>
              <a:t>Fix</a:t>
            </a:r>
            <a:endParaRPr sz="1200" b="1">
              <a:solidFill>
                <a:srgbClr val="5A6F8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2467"/>
                </a:solidFill>
                <a:latin typeface="Calibri"/>
              </a:rPr>
              <a:t>chenai + no rain → “for No?”</a:t>
            </a:r>
            <a:endParaRPr sz="10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44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Skipped Did-you-mean; place=No from “no rain”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444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Typo first; scrub categories from place extract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" y="20574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30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2467"/>
                </a:solidFill>
                <a:latin typeface="Calibri"/>
              </a:rPr>
              <a:t>Yes 40 mm looped on 4000mm</a:t>
            </a:r>
            <a:endParaRPr sz="10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51960" y="20574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130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\b4000\b failed on glued 4000mm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92440" y="20574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130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Replace NNmm unit; confirmed_rainfall_mm for Keep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27432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163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2467"/>
                </a:solidFill>
                <a:latin typeface="Calibri"/>
              </a:rPr>
              <a:t>“more than 40mm” → Thane?</a:t>
            </a:r>
            <a:endParaRPr sz="10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51960" y="27432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8163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than fuzzy-matched Thane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92440" y="27432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28163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Stop words + stricter similarity + skip threshold typos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1480" y="34290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5021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2467"/>
                </a:solidFill>
                <a:latin typeface="Calibri"/>
              </a:rPr>
              <a:t>Goa + Monthly → goa monthly</a:t>
            </a:r>
            <a:endParaRPr sz="10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251960" y="34290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5021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Period glued to place → invalid_location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92440" y="34290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5021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Period aliases + strip period from place; safer rewrite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11480" y="41148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879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2467"/>
                </a:solidFill>
                <a:latin typeface="Calibri"/>
              </a:rPr>
              <a:t>Historical = today only</a:t>
            </a:r>
            <a:endParaRPr sz="10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251960" y="41148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1879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historical not in date sanitizer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92440" y="41148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41879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Map to season start→today; chip “Season so far”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11480" y="48006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73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2467"/>
                </a:solidFill>
                <a:latin typeface="Calibri"/>
              </a:rPr>
              <a:t>June month → June 2023</a:t>
            </a:r>
            <a:endParaRPr sz="10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251960" y="48006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4873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LLM copied catalog year; “on june month” missed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092440" y="48006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79" y="4873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applyMonthRange recognizes on/june month; force current year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11480" y="54864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559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2467"/>
                </a:solidFill>
                <a:latin typeface="Calibri"/>
              </a:rPr>
              <a:t>Excess miss + “no data”</a:t>
            </a:r>
            <a:endParaRPr sz="1000" b="1">
              <a:solidFill>
                <a:srgbClr val="002467"/>
              </a:solidFill>
              <a:latin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251960" y="54864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5559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LLM appended contradictory line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092440" y="5486400"/>
            <a:ext cx="3703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5559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C1F3A"/>
                </a:solidFill>
                <a:latin typeface="Calibri"/>
              </a:rPr>
              <a:t>Deterministic category_miss answer; override LLM</a:t>
            </a:r>
            <a:endParaRPr sz="10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13/17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</a:rPr>
              <a:t>6</a:t>
            </a:r>
            <a:r>
              <a:rPr sz="2200" b="1">
                <a:solidFill>
                  <a:srgbClr val="FFFFFF"/>
                </a:solidFill>
                <a:latin typeface="Calibri"/>
              </a:rPr>
              <a:t>. Recommended Test Plan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1. chenai + excess / no rain → Did you mean Chennai? → Yes → period → answer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2. Did you mean → No → asks to retype place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3. Specific month → chips + type “March 2023” → no month re-loop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4. Chennai Excess for June 2026 → category_miss copy (not “no data”) if Deficient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5. “more than 40mm” → lists districts; never “Did you mean Thane?”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6. “more than 4000mm” → Yes 40 mm continues once; Keep 4000 continues once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7. rainfall in goa → period chips → This month / Season so far → real range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8. rainfall in goa on june month → 2026-06-01..30 (not 2023)</a:t>
            </a:r>
            <a:endParaRPr sz="1500" b="0">
              <a:solidFill>
                <a:srgbClr val="0C1F3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C1F3A"/>
                </a:solidFill>
                <a:latin typeface="Calibri"/>
              </a:rPr>
              <a:t>9. Clarify UI shows title/hint + chips only (no &lt;em&gt;, no pipe list)</a:t>
            </a:r>
            <a:endParaRPr sz="1500" b="0">
              <a:solidFill>
                <a:srgbClr val="0C1F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15/17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</a:rPr>
              <a:t>7</a:t>
            </a:r>
            <a:r>
              <a:rPr sz="2200" b="1">
                <a:solidFill>
                  <a:srgbClr val="FFFFFF"/>
                </a:solidFill>
                <a:latin typeface="Calibri"/>
              </a:rPr>
              <a:t>. Summary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F86"/>
                </a:solidFill>
                <a:latin typeface="Calibri"/>
              </a:rPr>
              <a:t>iRAINS · Varsha Chatbot · Changes 11 Aug 2026 · 16/17</a:t>
            </a:r>
            <a:endParaRPr sz="1000" b="0">
              <a:solidFill>
                <a:srgbClr val="5A6F86"/>
              </a:solidFill>
              <a:latin typeface="Calibri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691640"/>
          <a:ext cx="104394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240"/>
                <a:gridCol w="1316990"/>
                <a:gridCol w="1219835"/>
                <a:gridCol w="1463040"/>
                <a:gridCol w="1658620"/>
                <a:gridCol w="1463675"/>
              </a:tblGrid>
              <a:tr h="127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Task Name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Previous Week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This Week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Progress Delta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 Date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0B2E4A"/>
                    </a:solidFill>
                  </a:tcPr>
                </a:tc>
              </a:tr>
              <a:tr h="127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284C7"/>
                          </a:solidFill>
                          <a:latin typeface="Calibri"/>
                        </a:rPr>
                        <a:t>Chatbot Implementation (Varsha)</a:t>
                      </a:r>
                      <a:endParaRPr sz="1000" b="1">
                        <a:solidFill>
                          <a:srgbClr val="0284C7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>
                          <a:solidFill>
                            <a:srgbClr val="334155"/>
                          </a:solidFill>
                          <a:latin typeface="Calibri"/>
                        </a:rPr>
                        <a:t>35</a:t>
                      </a:r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%</a:t>
                      </a:r>
                      <a:endParaRPr sz="1000" b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>
                          <a:solidFill>
                            <a:srgbClr val="334155"/>
                          </a:solidFill>
                          <a:latin typeface="Calibri"/>
                        </a:rPr>
                        <a:t>15</a:t>
                      </a:r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%</a:t>
                      </a:r>
                      <a:endParaRPr sz="1000" b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59669"/>
                          </a:solidFill>
                          <a:latin typeface="Calibri"/>
                        </a:rPr>
                        <a:t>+</a:t>
                      </a:r>
                      <a:r>
                        <a:rPr lang="en-US" sz="1000" b="1">
                          <a:solidFill>
                            <a:srgbClr val="059669"/>
                          </a:solidFill>
                          <a:latin typeface="Calibri"/>
                        </a:rPr>
                        <a:t>1</a:t>
                      </a:r>
                      <a:r>
                        <a:rPr sz="1000" b="1">
                          <a:solidFill>
                            <a:srgbClr val="059669"/>
                          </a:solidFill>
                          <a:latin typeface="Calibri"/>
                        </a:rPr>
                        <a:t>5%</a:t>
                      </a:r>
                      <a:endParaRPr sz="1000" b="1">
                        <a:solidFill>
                          <a:srgbClr val="059669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Sep 30, 2026</a:t>
                      </a:r>
                      <a:endParaRPr sz="1000" b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In Progress</a:t>
                      </a:r>
                      <a:endParaRPr sz="1000" b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6864</Words>
  <Application>WPS Presentation</Application>
  <PresentationFormat>On-screen Show (4:3)</PresentationFormat>
  <Paragraphs>323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MS PGothic</vt:lpstr>
      <vt:lpstr>苹方-简</vt:lpstr>
      <vt:lpstr>Calibri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Rithi Ha</cp:lastModifiedBy>
  <cp:revision>3</cp:revision>
  <dcterms:created xsi:type="dcterms:W3CDTF">2026-08-12T07:06:14Z</dcterms:created>
  <dcterms:modified xsi:type="dcterms:W3CDTF">2026-08-12T07:06:14Z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F9075D3F89053F90D3197C6A71EBF2CF_42</vt:lpwstr>
  </property>
  <property fmtid="{D5CDD505-2E9C-101B-9397-08002B2CF9AE}" pid="3" name="KSOProductBuildVer">
    <vt:lpwstr>1033-12.1.26050.26050</vt:lpwstr>
  </property>
</Properties>
</file>